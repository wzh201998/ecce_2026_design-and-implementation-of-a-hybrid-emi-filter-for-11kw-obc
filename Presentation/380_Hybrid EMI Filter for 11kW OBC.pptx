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61" r:id="rId3"/>
    <p:sldId id="5788" r:id="rId4"/>
    <p:sldId id="5789" r:id="rId5"/>
    <p:sldId id="5797" r:id="rId6"/>
    <p:sldId id="5816" r:id="rId7"/>
    <p:sldId id="5801" r:id="rId8"/>
    <p:sldId id="5817" r:id="rId9"/>
    <p:sldId id="5820" r:id="rId10"/>
    <p:sldId id="5823" r:id="rId11"/>
    <p:sldId id="298" r:id="rId12"/>
    <p:sldId id="297" r:id="rId13"/>
    <p:sldId id="5824" r:id="rId14"/>
    <p:sldId id="321" r:id="rId15"/>
    <p:sldId id="5804" r:id="rId16"/>
    <p:sldId id="5806" r:id="rId17"/>
    <p:sldId id="5807" r:id="rId18"/>
    <p:sldId id="303" r:id="rId19"/>
    <p:sldId id="5826" r:id="rId20"/>
    <p:sldId id="5658" r:id="rId21"/>
    <p:sldId id="5825" r:id="rId22"/>
    <p:sldId id="580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6E3968-C6C5-41D7-B67A-C1D30195DD90}">
          <p14:sldIdLst>
            <p14:sldId id="256"/>
          </p14:sldIdLst>
        </p14:section>
        <p14:section name="Main" id="{A64B4D02-6506-419B-971D-7D3995FC13B5}">
          <p14:sldIdLst>
            <p14:sldId id="261"/>
            <p14:sldId id="5788"/>
            <p14:sldId id="5789"/>
            <p14:sldId id="5797"/>
            <p14:sldId id="5816"/>
            <p14:sldId id="5801"/>
            <p14:sldId id="5817"/>
            <p14:sldId id="5820"/>
            <p14:sldId id="5823"/>
            <p14:sldId id="298"/>
            <p14:sldId id="297"/>
            <p14:sldId id="5824"/>
            <p14:sldId id="321"/>
            <p14:sldId id="5804"/>
            <p14:sldId id="5806"/>
            <p14:sldId id="5807"/>
            <p14:sldId id="303"/>
            <p14:sldId id="5826"/>
          </p14:sldIdLst>
        </p14:section>
        <p14:section name="Backup" id="{0D05D938-1D1B-440E-85B5-E27AAA3B5096}">
          <p14:sldIdLst>
            <p14:sldId id="5658"/>
            <p14:sldId id="5825"/>
            <p14:sldId id="58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3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154B"/>
    <a:srgbClr val="00AAA5"/>
    <a:srgbClr val="44546A"/>
    <a:srgbClr val="FFFFFF"/>
    <a:srgbClr val="DD2A2B"/>
    <a:srgbClr val="19AEFF"/>
    <a:srgbClr val="636363"/>
    <a:srgbClr val="616161"/>
    <a:srgbClr val="0000FF"/>
    <a:srgbClr val="FF6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560" y="56"/>
      </p:cViewPr>
      <p:guideLst>
        <p:guide orient="horz" pos="2156"/>
        <p:guide pos="3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row, the compensation signal is voltage</a:t>
            </a:r>
          </a:p>
          <a:p>
            <a:r>
              <a:rPr lang="en-US" dirty="0" err="1"/>
              <a:t>Bottome</a:t>
            </a:r>
            <a:r>
              <a:rPr lang="en-US" dirty="0"/>
              <a:t> row, the compensation signal is current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C69C-DC0F-4145-8104-D207877168F5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4142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11200" y="452325"/>
            <a:ext cx="8503200" cy="11004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1200" y="1708030"/>
            <a:ext cx="10988649" cy="4600693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Silicon Austria Labs GmbH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E71C-E28E-4651-98EC-18FC6C4E9AE7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536711" y="176400"/>
            <a:ext cx="6577671" cy="376997"/>
          </a:xfrm>
        </p:spPr>
        <p:txBody>
          <a:bodyPr>
            <a:normAutofit/>
          </a:bodyPr>
          <a:lstStyle>
            <a:lvl1pPr marL="0" indent="0">
              <a:buNone/>
              <a:defRPr sz="120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ußzeilenplatzhalter 4"/>
          <p:cNvSpPr txBox="1"/>
          <p:nvPr userDrawn="1"/>
        </p:nvSpPr>
        <p:spPr>
          <a:xfrm>
            <a:off x="5843842" y="6422367"/>
            <a:ext cx="18187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Confidential</a:t>
            </a:r>
            <a:endParaRPr lang="de-DE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3.xml"/><Relationship Id="rId7" Type="http://schemas.openxmlformats.org/officeDocument/2006/relationships/image" Target="../media/image8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4CC4-BD21-444E-9369-52A5A8255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879" y="1093555"/>
            <a:ext cx="9854242" cy="121365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H</a:t>
            </a:r>
            <a:r>
              <a:rPr lang="en-US" sz="3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ybrid EMI Filter for</a:t>
            </a:r>
            <a:r>
              <a:rPr lang="en-US" sz="3600" b="1" dirty="0">
                <a:solidFill>
                  <a:schemeClr val="tx2"/>
                </a:solidFill>
              </a:rPr>
              <a:t> 11kW Onboard </a:t>
            </a:r>
            <a:r>
              <a:rPr lang="en-US" sz="3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Charger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91D38-92B3-38C4-4A8A-E9CFD5BC4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6790" y="2704333"/>
            <a:ext cx="9144000" cy="165576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b="1" dirty="0"/>
              <a:t>Weihao Zhao </a:t>
            </a:r>
          </a:p>
          <a:p>
            <a:pPr>
              <a:lnSpc>
                <a:spcPct val="120000"/>
              </a:lnSpc>
            </a:pPr>
            <a:r>
              <a:rPr lang="en-US" dirty="0"/>
              <a:t>Stefan </a:t>
            </a:r>
            <a:r>
              <a:rPr lang="en-US" dirty="0" err="1"/>
              <a:t>Mollov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Michael Hartmann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077643" y="0"/>
            <a:ext cx="2114357" cy="1507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6CCBF6-3CFE-F138-7D54-5B9044E40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425" y="5806528"/>
            <a:ext cx="2133721" cy="8972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C4BA0B-8E24-3559-6EC8-5B4581C39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8" y="5881488"/>
            <a:ext cx="3843230" cy="82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827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62890" y="168275"/>
            <a:ext cx="87077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Tiny Power Box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</a:t>
            </a:fld>
            <a:endParaRPr lang="en-US"/>
          </a:p>
        </p:txBody>
      </p:sp>
      <p:pic>
        <p:nvPicPr>
          <p:cNvPr id="93" name="Picture 92" descr="A group of lego blocks&#10;&#10;AI-generated content may be incorrect.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4404360" y="598805"/>
            <a:ext cx="8954135" cy="5876925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8249328" y="5602678"/>
            <a:ext cx="539880" cy="4775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9B9B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2.0</a:t>
            </a:r>
          </a:p>
        </p:txBody>
      </p:sp>
      <p:pic>
        <p:nvPicPr>
          <p:cNvPr id="88" name="Picture 87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43825" y="5307330"/>
            <a:ext cx="936625" cy="459105"/>
          </a:xfrm>
          <a:prstGeom prst="rect">
            <a:avLst/>
          </a:prstGeom>
        </p:spPr>
      </p:pic>
      <p:sp>
        <p:nvSpPr>
          <p:cNvPr id="2" name="TextBox 6"/>
          <p:cNvSpPr txBox="1"/>
          <p:nvPr/>
        </p:nvSpPr>
        <p:spPr>
          <a:xfrm>
            <a:off x="633095" y="1285875"/>
            <a:ext cx="4004945" cy="18637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sz="2400" b="1" noProof="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High-Power Density OBC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(11kW) /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</a:t>
            </a:r>
            <a:r>
              <a:rPr lang="en-GB" altLang="en-US" sz="2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(7.2kW) 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IEC-61851 Compliant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Low-Profile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D3EDCB-704F-9CC5-19A7-B7E31DE8A25A}"/>
              </a:ext>
            </a:extLst>
          </p:cNvPr>
          <p:cNvSpPr txBox="1"/>
          <p:nvPr/>
        </p:nvSpPr>
        <p:spPr>
          <a:xfrm>
            <a:off x="8610600" y="874633"/>
            <a:ext cx="1980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*Volume indicator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62890" y="168275"/>
            <a:ext cx="72351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>
              <a:buFont typeface="Arial" panose="020B0604020202020204" pitchFamily="34" charset="0"/>
              <a:buNone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3-</a:t>
            </a:r>
            <a:r>
              <a:rPr lang="en-US" altLang="en-US" sz="3600" b="1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/1-</a:t>
            </a:r>
            <a:r>
              <a:rPr lang="en-US" altLang="en-US" sz="3600" b="1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Input EV Chargers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992880" y="4006850"/>
            <a:ext cx="4064000" cy="376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</a:t>
            </a:fld>
            <a:endParaRPr lang="en-US"/>
          </a:p>
        </p:txBody>
      </p:sp>
      <p:pic>
        <p:nvPicPr>
          <p:cNvPr id="11" name="Picture 10" descr="Topology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265" y="3289935"/>
            <a:ext cx="9867265" cy="266319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838200" y="6551225"/>
            <a:ext cx="100616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IEC-61851-21-1: Conductive charging systems for electric vehicles - Part 21-1: EMC requirements for on-board chargers for AC/DC powered electric vehicles</a:t>
            </a:r>
          </a:p>
        </p:txBody>
      </p:sp>
      <p:sp>
        <p:nvSpPr>
          <p:cNvPr id="4" name="TextBox 6"/>
          <p:cNvSpPr txBox="1"/>
          <p:nvPr/>
        </p:nvSpPr>
        <p:spPr>
          <a:xfrm>
            <a:off x="633095" y="1119505"/>
            <a:ext cx="4004945" cy="18637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sz="2400" b="1" noProof="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High-Power Density OBC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(11kW) /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</a:t>
            </a:r>
            <a:r>
              <a:rPr lang="en-GB" altLang="en-US" sz="2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(7.2kW) 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IEC-61851 Compliant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Low-Profile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62890" y="168275"/>
            <a:ext cx="72351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>
              <a:buFont typeface="Arial" panose="020B0604020202020204" pitchFamily="34" charset="0"/>
              <a:buNone/>
            </a:pPr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Design Challenges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mtClean="0"/>
              <a:t>4</a:t>
            </a:fld>
            <a:endParaRPr lang="en-US"/>
          </a:p>
        </p:txBody>
      </p:sp>
      <p:pic>
        <p:nvPicPr>
          <p:cNvPr id="12" name="Graphic 11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4825" y="1257935"/>
            <a:ext cx="5583555" cy="13576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1885" y="1311781"/>
            <a:ext cx="6272291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nput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ompatible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452880" y="3519170"/>
            <a:ext cx="3709670" cy="22320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685915" y="3362325"/>
            <a:ext cx="3699510" cy="2388870"/>
          </a:xfrm>
          <a:prstGeom prst="rect">
            <a:avLst/>
          </a:prstGeom>
        </p:spPr>
      </p:pic>
      <p:sp>
        <p:nvSpPr>
          <p:cNvPr id="16" name="Text Box 15"/>
          <p:cNvSpPr txBox="1"/>
          <p:nvPr>
            <p:custDataLst>
              <p:tags r:id="rId3"/>
            </p:custDataLst>
          </p:nvPr>
        </p:nvSpPr>
        <p:spPr>
          <a:xfrm>
            <a:off x="2385695" y="3229610"/>
            <a:ext cx="13195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</a:t>
            </a:r>
            <a:r>
              <a:rPr lang="en-GB" altLang="en-US" sz="20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GB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Mode</a:t>
            </a:r>
          </a:p>
        </p:txBody>
      </p:sp>
      <p:sp>
        <p:nvSpPr>
          <p:cNvPr id="17" name="Text Box 16"/>
          <p:cNvSpPr txBox="1"/>
          <p:nvPr>
            <p:custDataLst>
              <p:tags r:id="rId4"/>
            </p:custDataLst>
          </p:nvPr>
        </p:nvSpPr>
        <p:spPr>
          <a:xfrm>
            <a:off x="7498080" y="3229610"/>
            <a:ext cx="13195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</a:t>
            </a:r>
            <a:r>
              <a:rPr lang="en-GB" altLang="en-US" sz="20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GB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62890" y="168275"/>
            <a:ext cx="72351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>
              <a:buFont typeface="Arial" panose="020B0604020202020204" pitchFamily="34" charset="0"/>
              <a:buNone/>
            </a:pPr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Design Challenges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11885" y="1316861"/>
            <a:ext cx="6272291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 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nput 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ompatible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eakage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urrent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865" y="3277870"/>
            <a:ext cx="4050030" cy="1732915"/>
          </a:xfrm>
          <a:prstGeom prst="rect">
            <a:avLst/>
          </a:prstGeom>
        </p:spPr>
      </p:pic>
      <p:pic>
        <p:nvPicPr>
          <p:cNvPr id="2" name="Graphic 1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7728"/>
          <a:stretch>
            <a:fillRect/>
          </a:stretch>
        </p:blipFill>
        <p:spPr>
          <a:xfrm>
            <a:off x="6322695" y="3320415"/>
            <a:ext cx="754380" cy="13868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8770" y="3277870"/>
            <a:ext cx="3042285" cy="16497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11885" y="6532949"/>
            <a:ext cx="6960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1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 IEC 61851-1, Electric Vehicle Conductive Charging System-Part I General Requirements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62890" y="168275"/>
            <a:ext cx="72351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>
              <a:buFont typeface="Arial" panose="020B0604020202020204" pitchFamily="34" charset="0"/>
              <a:buNone/>
            </a:pPr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Design Challenges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25855" y="1311781"/>
            <a:ext cx="6272291" cy="2676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 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nput 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ompatible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eakage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urrent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Strict Volume Restriction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5980429" y="3060065"/>
            <a:ext cx="5203265" cy="2731704"/>
            <a:chOff x="1816" y="5092"/>
            <a:chExt cx="8820" cy="4803"/>
          </a:xfrm>
        </p:grpSpPr>
        <p:grpSp>
          <p:nvGrpSpPr>
            <p:cNvPr id="16" name="Group 15"/>
            <p:cNvGrpSpPr/>
            <p:nvPr/>
          </p:nvGrpSpPr>
          <p:grpSpPr>
            <a:xfrm>
              <a:off x="1816" y="5092"/>
              <a:ext cx="7261" cy="4803"/>
              <a:chOff x="9171" y="3064"/>
              <a:chExt cx="7261" cy="4803"/>
            </a:xfrm>
          </p:grpSpPr>
          <p:pic>
            <p:nvPicPr>
              <p:cNvPr id="1344" name="Picture 1343" descr="A close-up of a machine&#10;&#10;AI-generated content may be incorrect.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53" t="5344" r="4089"/>
              <a:stretch>
                <a:fillRect/>
              </a:stretch>
            </p:blipFill>
            <p:spPr>
              <a:xfrm>
                <a:off x="10596" y="3191"/>
                <a:ext cx="5740" cy="4676"/>
              </a:xfrm>
              <a:prstGeom prst="rect">
                <a:avLst/>
              </a:prstGeom>
            </p:spPr>
          </p:pic>
          <p:grpSp>
            <p:nvGrpSpPr>
              <p:cNvPr id="1054" name="Group 1053"/>
              <p:cNvGrpSpPr/>
              <p:nvPr/>
            </p:nvGrpSpPr>
            <p:grpSpPr>
              <a:xfrm>
                <a:off x="9171" y="5366"/>
                <a:ext cx="1774" cy="1795"/>
                <a:chOff x="4062151" y="2331949"/>
                <a:chExt cx="478168" cy="555408"/>
              </a:xfrm>
            </p:grpSpPr>
            <p:cxnSp>
              <p:nvCxnSpPr>
                <p:cNvPr id="1055" name="Straight Arrow Connector 1054"/>
                <p:cNvCxnSpPr/>
                <p:nvPr/>
              </p:nvCxnSpPr>
              <p:spPr>
                <a:xfrm flipV="1">
                  <a:off x="4133580" y="2466580"/>
                  <a:ext cx="270" cy="215658"/>
                </a:xfrm>
                <a:prstGeom prst="straightConnector1">
                  <a:avLst/>
                </a:prstGeom>
                <a:ln w="19050">
                  <a:solidFill>
                    <a:srgbClr val="0000FF"/>
                  </a:solidFill>
                  <a:headEnd type="none" w="sm" len="sm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6" name="Straight Arrow Connector 1055"/>
                <p:cNvCxnSpPr/>
                <p:nvPr/>
              </p:nvCxnSpPr>
              <p:spPr>
                <a:xfrm rot="7200000" flipV="1">
                  <a:off x="4217961" y="2627383"/>
                  <a:ext cx="0" cy="194245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headEnd type="none" w="sm" len="sm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7" name="Straight Arrow Connector 1056"/>
                <p:cNvCxnSpPr/>
                <p:nvPr/>
              </p:nvCxnSpPr>
              <p:spPr>
                <a:xfrm rot="3600000" flipV="1">
                  <a:off x="4217962" y="2531551"/>
                  <a:ext cx="0" cy="194245"/>
                </a:xfrm>
                <a:prstGeom prst="straightConnector1">
                  <a:avLst/>
                </a:prstGeom>
                <a:ln w="19050">
                  <a:solidFill>
                    <a:srgbClr val="00B050"/>
                  </a:solidFill>
                  <a:headEnd type="none" w="sm" len="sm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58" name="TextBox 1057"/>
                <p:cNvSpPr txBox="1"/>
                <p:nvPr/>
              </p:nvSpPr>
              <p:spPr>
                <a:xfrm>
                  <a:off x="4281827" y="2712213"/>
                  <a:ext cx="146631" cy="1751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500" b="1">
                      <a:latin typeface="Times" panose="02020603050405020304" pitchFamily="18" charset="0"/>
                      <a:cs typeface="Times" panose="02020603050405020304" pitchFamily="18" charset="0"/>
                    </a:rPr>
                    <a:t>X</a:t>
                  </a:r>
                </a:p>
              </p:txBody>
            </p:sp>
            <p:sp>
              <p:nvSpPr>
                <p:cNvPr id="1059" name="TextBox 1058"/>
                <p:cNvSpPr txBox="1"/>
                <p:nvPr/>
              </p:nvSpPr>
              <p:spPr>
                <a:xfrm>
                  <a:off x="4062151" y="2331949"/>
                  <a:ext cx="247184" cy="1751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500" b="1">
                      <a:latin typeface="Times" panose="02020603050405020304" pitchFamily="18" charset="0"/>
                      <a:cs typeface="Times" panose="02020603050405020304" pitchFamily="18" charset="0"/>
                    </a:rPr>
                    <a:t>Z</a:t>
                  </a:r>
                </a:p>
              </p:txBody>
            </p:sp>
            <p:sp>
              <p:nvSpPr>
                <p:cNvPr id="1060" name="TextBox 1059"/>
                <p:cNvSpPr txBox="1"/>
                <p:nvPr/>
              </p:nvSpPr>
              <p:spPr>
                <a:xfrm>
                  <a:off x="4281915" y="2488747"/>
                  <a:ext cx="258404" cy="1751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500" b="1">
                      <a:latin typeface="Times" panose="02020603050405020304" pitchFamily="18" charset="0"/>
                      <a:cs typeface="Times" panose="02020603050405020304" pitchFamily="18" charset="0"/>
                    </a:rPr>
                    <a:t>Y</a:t>
                  </a:r>
                </a:p>
              </p:txBody>
            </p:sp>
          </p:grpSp>
          <p:cxnSp>
            <p:nvCxnSpPr>
              <p:cNvPr id="2" name="Straight Arrow Connector 1"/>
              <p:cNvCxnSpPr/>
              <p:nvPr/>
            </p:nvCxnSpPr>
            <p:spPr>
              <a:xfrm flipV="1">
                <a:off x="10742" y="3064"/>
                <a:ext cx="2674" cy="1464"/>
              </a:xfrm>
              <a:prstGeom prst="straightConnector1">
                <a:avLst/>
              </a:prstGeom>
              <a:ln w="38100"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" name="Straight Arrow Connector 3"/>
              <p:cNvCxnSpPr/>
              <p:nvPr/>
            </p:nvCxnSpPr>
            <p:spPr>
              <a:xfrm>
                <a:off x="13529" y="3064"/>
                <a:ext cx="2807" cy="1671"/>
              </a:xfrm>
              <a:prstGeom prst="straightConnector1">
                <a:avLst/>
              </a:prstGeom>
              <a:ln w="38100"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" name="Straight Arrow Connector 4"/>
              <p:cNvCxnSpPr/>
              <p:nvPr/>
            </p:nvCxnSpPr>
            <p:spPr>
              <a:xfrm>
                <a:off x="16400" y="4800"/>
                <a:ext cx="32" cy="717"/>
              </a:xfrm>
              <a:prstGeom prst="straightConnector1">
                <a:avLst/>
              </a:prstGeom>
              <a:ln w="38100"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" name="Text Box 8"/>
              <p:cNvSpPr txBox="1"/>
              <p:nvPr/>
            </p:nvSpPr>
            <p:spPr>
              <a:xfrm rot="1800000">
                <a:off x="14377" y="3361"/>
                <a:ext cx="1635" cy="64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GB" b="1">
                    <a:latin typeface="Times" panose="02020603050405020304" pitchFamily="18" charset="0"/>
                    <a:cs typeface="Times" panose="02020603050405020304" pitchFamily="18" charset="0"/>
                    <a:sym typeface="+mn-ea"/>
                  </a:rPr>
                  <a:t>270mm</a:t>
                </a:r>
              </a:p>
            </p:txBody>
          </p:sp>
          <p:sp>
            <p:nvSpPr>
              <p:cNvPr id="10" name="Text Box 9"/>
              <p:cNvSpPr txBox="1"/>
              <p:nvPr/>
            </p:nvSpPr>
            <p:spPr>
              <a:xfrm rot="19800000">
                <a:off x="11131" y="3135"/>
                <a:ext cx="1635" cy="64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GB" b="1">
                    <a:latin typeface="Times" panose="02020603050405020304" pitchFamily="18" charset="0"/>
                    <a:cs typeface="Times" panose="02020603050405020304" pitchFamily="18" charset="0"/>
                    <a:sym typeface="+mn-ea"/>
                  </a:rPr>
                  <a:t>250mm</a:t>
                </a:r>
              </a:p>
            </p:txBody>
          </p:sp>
        </p:grpSp>
        <p:sp>
          <p:nvSpPr>
            <p:cNvPr id="11" name="Text Box 10"/>
            <p:cNvSpPr txBox="1"/>
            <p:nvPr/>
          </p:nvSpPr>
          <p:spPr>
            <a:xfrm>
              <a:off x="9140" y="6897"/>
              <a:ext cx="1496" cy="64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GB" b="1">
                  <a:latin typeface="Times" panose="02020603050405020304" pitchFamily="18" charset="0"/>
                  <a:cs typeface="Times" panose="02020603050405020304" pitchFamily="18" charset="0"/>
                  <a:sym typeface="+mn-ea"/>
                </a:rPr>
                <a:t>50mm</a:t>
              </a:r>
            </a:p>
          </p:txBody>
        </p:sp>
      </p:grpSp>
      <p:sp>
        <p:nvSpPr>
          <p:cNvPr id="8" name="Text Box 4">
            <a:extLst>
              <a:ext uri="{FF2B5EF4-FFF2-40B4-BE49-F238E27FC236}">
                <a16:creationId xmlns:a16="http://schemas.microsoft.com/office/drawing/2014/main" id="{FD9028FB-B8CE-F5F6-47AB-46BCF05CA470}"/>
              </a:ext>
            </a:extLst>
          </p:cNvPr>
          <p:cNvSpPr txBox="1"/>
          <p:nvPr/>
        </p:nvSpPr>
        <p:spPr>
          <a:xfrm>
            <a:off x="911885" y="6532949"/>
            <a:ext cx="6960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1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 IEC 61851-1, Electric Vehicle Conductive Charging System-Part I General Requirements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62890" y="168275"/>
            <a:ext cx="72351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>
              <a:buFont typeface="Arial" panose="020B0604020202020204" pitchFamily="34" charset="0"/>
              <a:buNone/>
            </a:pPr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7</a:t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924040" y="1160780"/>
            <a:ext cx="2583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Hybrid EMI Filter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035" y="2122170"/>
            <a:ext cx="4412615" cy="318452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8158480" y="5099050"/>
            <a:ext cx="1349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</a:p>
        </p:txBody>
      </p:sp>
      <p:sp>
        <p:nvSpPr>
          <p:cNvPr id="10" name="Text Box 9"/>
          <p:cNvSpPr txBox="1"/>
          <p:nvPr/>
        </p:nvSpPr>
        <p:spPr>
          <a:xfrm rot="16200000">
            <a:off x="5674360" y="3361690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Attenuation (dB)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70" y="2200275"/>
            <a:ext cx="4425950" cy="3238500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2660650" y="5161280"/>
            <a:ext cx="1349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</a:p>
        </p:txBody>
      </p:sp>
      <p:sp>
        <p:nvSpPr>
          <p:cNvPr id="18" name="Text Box 17"/>
          <p:cNvSpPr txBox="1"/>
          <p:nvPr/>
        </p:nvSpPr>
        <p:spPr>
          <a:xfrm rot="16200000">
            <a:off x="252730" y="3419475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Attenuation (dB)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1675130" y="2282190"/>
            <a:ext cx="1708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b="1" i="1">
                <a:latin typeface="Arial" panose="020B0604020202020204" pitchFamily="34" charset="0"/>
                <a:cs typeface="Arial" panose="020B0604020202020204" pitchFamily="34" charset="0"/>
              </a:rPr>
              <a:t>Passive Filter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9386570" y="3683000"/>
            <a:ext cx="1708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b="1" i="1">
                <a:latin typeface="Arial" panose="020B0604020202020204" pitchFamily="34" charset="0"/>
                <a:cs typeface="Arial" panose="020B0604020202020204" pitchFamily="34" charset="0"/>
              </a:rPr>
              <a:t>Passive Filter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7264400" y="2625090"/>
            <a:ext cx="1708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b="1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Filter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rcRect r="25731" b="62785"/>
          <a:stretch>
            <a:fillRect/>
          </a:stretch>
        </p:blipFill>
        <p:spPr>
          <a:xfrm>
            <a:off x="7221220" y="1956435"/>
            <a:ext cx="1175385" cy="55372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6510" y="3032125"/>
            <a:ext cx="602615" cy="593090"/>
          </a:xfrm>
          <a:prstGeom prst="rect">
            <a:avLst/>
          </a:prstGeom>
        </p:spPr>
      </p:pic>
      <p:sp>
        <p:nvSpPr>
          <p:cNvPr id="29" name="Text Box 28"/>
          <p:cNvSpPr txBox="1"/>
          <p:nvPr/>
        </p:nvSpPr>
        <p:spPr>
          <a:xfrm>
            <a:off x="1237615" y="1160780"/>
            <a:ext cx="3495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Passive EMI Filter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40317" y="6550025"/>
            <a:ext cx="84156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1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https://vacuumschmelze.com/products/inductive-components-and-cores/amorphous-and-nanocrystalline-cores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2365" y="3153410"/>
            <a:ext cx="3324225" cy="1504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2020" y="1341120"/>
            <a:ext cx="4812030" cy="41910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62890" y="168275"/>
            <a:ext cx="72351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>
              <a:buFont typeface="Arial" panose="020B0604020202020204" pitchFamily="34" charset="0"/>
              <a:buNone/>
            </a:pPr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Active EMI Filter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8</a:t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61645" y="1167130"/>
            <a:ext cx="41738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Measurement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Compensation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467" y="6546929"/>
            <a:ext cx="10219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W. Zhao and M. Hartmann, "Design and Implementation of An Active Common Mode EMI Filter for LV Automotive Applications," PCIM 2025,  Germany.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90" y="2720340"/>
            <a:ext cx="4178935" cy="250761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4115435" y="2520633"/>
            <a:ext cx="925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DUT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1113790" y="2520633"/>
            <a:ext cx="925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62890" y="168275"/>
            <a:ext cx="117913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>
              <a:buFont typeface="Arial" panose="020B0604020202020204" pitchFamily="34" charset="0"/>
              <a:buNone/>
            </a:pPr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Design Consideration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992880" y="4006850"/>
            <a:ext cx="4064000" cy="376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9</a:t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912495" y="131191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Output Capability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Stability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Adaptability</a:t>
            </a:r>
            <a:endParaRPr lang="en-GB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38325"/>
            <a:ext cx="5601335" cy="399986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2494" y="6546929"/>
            <a:ext cx="104413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Y. Chu, S. Wang and Q. Wang, "Modeling and Stability Analysis of Active/Hybrid Common-Mode EMI Filters for DC/DC Power Converters," IEEE T</a:t>
            </a:r>
            <a:r>
              <a:rPr lang="en-GB" altLang="en-US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2016.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9900" y="3818255"/>
            <a:ext cx="1844675" cy="98869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0535" y="3512185"/>
            <a:ext cx="1997075" cy="12947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62890" y="168275"/>
            <a:ext cx="117913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>
              <a:buFont typeface="Arial" panose="020B0604020202020204" pitchFamily="34" charset="0"/>
              <a:buNone/>
            </a:pPr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Design Consideration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992880" y="4006850"/>
            <a:ext cx="4064000" cy="376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10</a:t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912495" y="130873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Output Capability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Stability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Adaptability</a:t>
            </a:r>
            <a:endParaRPr lang="en-GB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9211" y="2489045"/>
            <a:ext cx="1587198" cy="1200984"/>
          </a:xfrm>
          <a:prstGeom prst="rect">
            <a:avLst/>
          </a:prstGeom>
        </p:spPr>
      </p:pic>
      <p:pic>
        <p:nvPicPr>
          <p:cNvPr id="13" name="Graphic 1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1765" y="2817518"/>
            <a:ext cx="1770348" cy="442587"/>
          </a:xfrm>
          <a:prstGeom prst="rect">
            <a:avLst/>
          </a:prstGeom>
        </p:spPr>
      </p:pic>
      <p:pic>
        <p:nvPicPr>
          <p:cNvPr id="14" name="Graphic 12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98098" y="2940283"/>
            <a:ext cx="1779360" cy="222420"/>
          </a:xfrm>
          <a:prstGeom prst="rect">
            <a:avLst/>
          </a:prstGeom>
        </p:spPr>
      </p:pic>
      <p:sp>
        <p:nvSpPr>
          <p:cNvPr id="15" name="TextBox 13"/>
          <p:cNvSpPr txBox="1"/>
          <p:nvPr/>
        </p:nvSpPr>
        <p:spPr>
          <a:xfrm>
            <a:off x="10137697" y="2435135"/>
            <a:ext cx="590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~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7" name="TextBox 14"/>
          <p:cNvSpPr txBox="1"/>
          <p:nvPr/>
        </p:nvSpPr>
        <p:spPr>
          <a:xfrm>
            <a:off x="7621326" y="2402750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</a:t>
            </a:r>
          </a:p>
        </p:txBody>
      </p:sp>
      <p:sp>
        <p:nvSpPr>
          <p:cNvPr id="18" name="TextBox 15"/>
          <p:cNvSpPr txBox="1"/>
          <p:nvPr/>
        </p:nvSpPr>
        <p:spPr>
          <a:xfrm>
            <a:off x="4723287" y="2402750"/>
            <a:ext cx="676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μA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95065" y="3369945"/>
            <a:ext cx="7026275" cy="24631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44EA7BC-8BFE-59CF-1189-7CA508B82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380" y="954181"/>
            <a:ext cx="5625460" cy="239192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E71C-E28E-4651-98EC-18FC6C4E9AE7}" type="slidenum">
              <a:rPr lang="de-DE" smtClean="0"/>
              <a:t>11</a:t>
            </a:fld>
            <a:endParaRPr lang="de-D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11D842-75E0-8A44-2E7C-0368F8019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3412446"/>
            <a:ext cx="10853144" cy="260935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62890" y="168275"/>
            <a:ext cx="7586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11kW </a:t>
            </a:r>
            <a:r>
              <a:rPr lang="de-AT" sz="3200" b="1" dirty="0">
                <a:latin typeface="Arial" panose="020B0604020202020204" pitchFamily="34" charset="0"/>
                <a:cs typeface="Arial" panose="020B0604020202020204" pitchFamily="34" charset="0"/>
              </a:rPr>
              <a:t>Hybrid Filter</a:t>
            </a:r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(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</a:t>
            </a:r>
            <a:r>
              <a:rPr lang="en-US" altLang="zh-CN" sz="3200" b="1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</a:t>
            </a:r>
            <a:r>
              <a:rPr lang="en-US" altLang="zh-CN" sz="32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Mode)</a:t>
            </a:r>
            <a:endParaRPr lang="en-US" altLang="en-US" sz="3200" b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1885" y="1457196"/>
            <a:ext cx="6272291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/1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nput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ompatible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1.3mA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eakage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urrent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E71C-E28E-4651-98EC-18FC6C4E9AE7}" type="slidenum">
              <a:rPr lang="de-DE" smtClean="0"/>
              <a:t>12</a:t>
            </a:fld>
            <a:endParaRPr 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32049C-9AF7-BEFC-4B28-542546021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380" y="954181"/>
            <a:ext cx="5625460" cy="23919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2F0390-CA3B-B84A-2567-4664D5901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467" y="3433050"/>
            <a:ext cx="7406398" cy="25463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7765" y="1457196"/>
            <a:ext cx="6272291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/1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nput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ompatible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1.3mA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eakage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urrent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62890" y="168275"/>
            <a:ext cx="75687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11kW </a:t>
            </a:r>
            <a:r>
              <a:rPr lang="de-AT" sz="3200" b="1" dirty="0">
                <a:latin typeface="Arial" panose="020B0604020202020204" pitchFamily="34" charset="0"/>
                <a:cs typeface="Arial" panose="020B0604020202020204" pitchFamily="34" charset="0"/>
              </a:rPr>
              <a:t>Hybrid Filter</a:t>
            </a:r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(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</a:t>
            </a:r>
            <a:r>
              <a:rPr lang="en-US" altLang="zh-CN" sz="3200" b="1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</a:t>
            </a:r>
            <a:r>
              <a:rPr lang="en-US" altLang="zh-CN" sz="32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Mode)</a:t>
            </a:r>
            <a:endParaRPr lang="en-US" altLang="en-US" sz="3200" b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E71C-E28E-4651-98EC-18FC6C4E9AE7}" type="slidenum">
              <a:rPr lang="de-DE" smtClean="0"/>
              <a:t>13</a:t>
            </a:fld>
            <a:endParaRPr lang="de-DE"/>
          </a:p>
        </p:txBody>
      </p:sp>
      <p:sp>
        <p:nvSpPr>
          <p:cNvPr id="6" name="Text Box 5"/>
          <p:cNvSpPr txBox="1"/>
          <p:nvPr/>
        </p:nvSpPr>
        <p:spPr>
          <a:xfrm>
            <a:off x="262890" y="168275"/>
            <a:ext cx="61271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Insertion Loss Measurement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TextBox 1"/>
          <p:cNvSpPr txBox="1"/>
          <p:nvPr/>
        </p:nvSpPr>
        <p:spPr>
          <a:xfrm>
            <a:off x="997610" y="1311857"/>
            <a:ext cx="44881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Effective</a:t>
            </a:r>
            <a:r>
              <a:rPr lang="en-GB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30kHz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GB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45dB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improvement @450kHz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585" y="2501900"/>
            <a:ext cx="4616819" cy="32246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4275" y="2472690"/>
            <a:ext cx="4580597" cy="32423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F3DC43-FE67-DA22-67F1-4D37075FE5EB}"/>
              </a:ext>
            </a:extLst>
          </p:cNvPr>
          <p:cNvSpPr txBox="1"/>
          <p:nvPr/>
        </p:nvSpPr>
        <p:spPr>
          <a:xfrm>
            <a:off x="9339332" y="250190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Active Filter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E71C-E28E-4651-98EC-18FC6C4E9AE7}" type="slidenum">
              <a:rPr lang="de-DE" smtClean="0"/>
              <a:t>14</a:t>
            </a:fld>
            <a:endParaRPr lang="de-DE"/>
          </a:p>
        </p:txBody>
      </p:sp>
      <p:sp>
        <p:nvSpPr>
          <p:cNvPr id="2" name="TextBox 1"/>
          <p:cNvSpPr txBox="1"/>
          <p:nvPr/>
        </p:nvSpPr>
        <p:spPr>
          <a:xfrm>
            <a:off x="997610" y="1311857"/>
            <a:ext cx="350139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Lcm1 reduced by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90%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Lcm2 reduced by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75%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62890" y="168275"/>
            <a:ext cx="55784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Benchmark Passive Filter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895" y="2387600"/>
            <a:ext cx="5295900" cy="34467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585" y="2332990"/>
            <a:ext cx="4403725" cy="35013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E71C-E28E-4651-98EC-18FC6C4E9AE7}" type="slidenum">
              <a:rPr lang="de-DE" smtClean="0"/>
              <a:t>15</a:t>
            </a:fld>
            <a:endParaRPr lang="de-DE"/>
          </a:p>
        </p:txBody>
      </p:sp>
      <p:sp>
        <p:nvSpPr>
          <p:cNvPr id="15" name="Rectangles 14"/>
          <p:cNvSpPr/>
          <p:nvPr/>
        </p:nvSpPr>
        <p:spPr>
          <a:xfrm>
            <a:off x="993775" y="2371725"/>
            <a:ext cx="3752850" cy="1736725"/>
          </a:xfrm>
          <a:prstGeom prst="rect">
            <a:avLst/>
          </a:prstGeom>
          <a:solidFill>
            <a:schemeClr val="accent4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62890" y="168275"/>
            <a:ext cx="75336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Conductive Emission Measurement</a:t>
            </a: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05170" y="2047875"/>
            <a:ext cx="5392420" cy="3731895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3686810" y="2879090"/>
            <a:ext cx="961390" cy="7607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 b="1">
                <a:solidFill>
                  <a:schemeClr val="tx1"/>
                </a:solidFill>
              </a:rPr>
              <a:t>DUT</a:t>
            </a:r>
          </a:p>
        </p:txBody>
      </p:sp>
      <p:sp>
        <p:nvSpPr>
          <p:cNvPr id="7" name="Rectangles 6"/>
          <p:cNvSpPr/>
          <p:nvPr/>
        </p:nvSpPr>
        <p:spPr>
          <a:xfrm>
            <a:off x="1310640" y="2879090"/>
            <a:ext cx="961390" cy="7607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 b="1">
                <a:solidFill>
                  <a:schemeClr val="tx1"/>
                </a:solidFill>
              </a:rPr>
              <a:t>LISN</a:t>
            </a:r>
          </a:p>
        </p:txBody>
      </p:sp>
      <p:cxnSp>
        <p:nvCxnSpPr>
          <p:cNvPr id="11" name="Straight Connector 10"/>
          <p:cNvCxnSpPr>
            <a:stCxn id="7" idx="3"/>
            <a:endCxn id="2" idx="1"/>
          </p:cNvCxnSpPr>
          <p:nvPr/>
        </p:nvCxnSpPr>
        <p:spPr>
          <a:xfrm>
            <a:off x="2272030" y="3259455"/>
            <a:ext cx="14147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Rectangles 12"/>
          <p:cNvSpPr/>
          <p:nvPr/>
        </p:nvSpPr>
        <p:spPr>
          <a:xfrm>
            <a:off x="1109980" y="4319905"/>
            <a:ext cx="1362710" cy="7607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 b="1">
                <a:solidFill>
                  <a:schemeClr val="tx1"/>
                </a:solidFill>
              </a:rPr>
              <a:t>EMI Receiver</a:t>
            </a:r>
          </a:p>
        </p:txBody>
      </p:sp>
      <p:cxnSp>
        <p:nvCxnSpPr>
          <p:cNvPr id="14" name="Straight Connector 13"/>
          <p:cNvCxnSpPr>
            <a:stCxn id="13" idx="0"/>
          </p:cNvCxnSpPr>
          <p:nvPr/>
        </p:nvCxnSpPr>
        <p:spPr>
          <a:xfrm flipH="1" flipV="1">
            <a:off x="1781175" y="3639820"/>
            <a:ext cx="10160" cy="6800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 Box 16"/>
          <p:cNvSpPr txBox="1"/>
          <p:nvPr/>
        </p:nvSpPr>
        <p:spPr>
          <a:xfrm>
            <a:off x="993775" y="2301875"/>
            <a:ext cx="18923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000" b="1">
                <a:solidFill>
                  <a:schemeClr val="tx1"/>
                </a:solidFill>
              </a:rPr>
              <a:t>Copper Plane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2544445" y="4418965"/>
            <a:ext cx="2682240" cy="274320"/>
          </a:xfrm>
          <a:prstGeom prst="straightConnector1">
            <a:avLst/>
          </a:prstGeom>
          <a:ln w="31750" cap="sq">
            <a:solidFill>
              <a:schemeClr val="tx1"/>
            </a:solidFill>
            <a:bevel/>
            <a:tailEnd type="arrow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Box 7"/>
          <p:cNvSpPr txBox="1"/>
          <p:nvPr/>
        </p:nvSpPr>
        <p:spPr>
          <a:xfrm>
            <a:off x="961011" y="1311626"/>
            <a:ext cx="4067175" cy="4603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50dB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attenuation required</a:t>
            </a:r>
            <a:endParaRPr lang="en-US" alt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04535" y="2037715"/>
            <a:ext cx="5364480" cy="373951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E71C-E28E-4651-98EC-18FC6C4E9AE7}" type="slidenum">
              <a:rPr lang="de-DE" smtClean="0"/>
              <a:t>16</a:t>
            </a:fld>
            <a:endParaRPr lang="de-DE"/>
          </a:p>
        </p:txBody>
      </p:sp>
      <p:sp>
        <p:nvSpPr>
          <p:cNvPr id="15" name="Rectangles 14"/>
          <p:cNvSpPr/>
          <p:nvPr/>
        </p:nvSpPr>
        <p:spPr>
          <a:xfrm>
            <a:off x="993775" y="2371725"/>
            <a:ext cx="3752850" cy="1736725"/>
          </a:xfrm>
          <a:prstGeom prst="rect">
            <a:avLst/>
          </a:prstGeom>
          <a:solidFill>
            <a:schemeClr val="accent4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62890" y="168275"/>
            <a:ext cx="80670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Conductive Emission Measurement</a:t>
            </a: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3686810" y="2879090"/>
            <a:ext cx="961390" cy="7607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 b="1" dirty="0">
                <a:solidFill>
                  <a:schemeClr val="tx1"/>
                </a:solidFill>
              </a:rPr>
              <a:t>DUT</a:t>
            </a:r>
          </a:p>
        </p:txBody>
      </p:sp>
      <p:sp>
        <p:nvSpPr>
          <p:cNvPr id="7" name="Rectangles 6"/>
          <p:cNvSpPr/>
          <p:nvPr/>
        </p:nvSpPr>
        <p:spPr>
          <a:xfrm>
            <a:off x="1310640" y="2879090"/>
            <a:ext cx="961390" cy="7607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 b="1" dirty="0">
                <a:solidFill>
                  <a:schemeClr val="tx1"/>
                </a:solidFill>
              </a:rPr>
              <a:t>LISN</a:t>
            </a:r>
          </a:p>
        </p:txBody>
      </p:sp>
      <p:cxnSp>
        <p:nvCxnSpPr>
          <p:cNvPr id="11" name="Straight Connector 10"/>
          <p:cNvCxnSpPr>
            <a:stCxn id="7" idx="3"/>
            <a:endCxn id="2" idx="1"/>
          </p:cNvCxnSpPr>
          <p:nvPr/>
        </p:nvCxnSpPr>
        <p:spPr>
          <a:xfrm>
            <a:off x="2272030" y="3259455"/>
            <a:ext cx="14147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Rectangles 12"/>
          <p:cNvSpPr/>
          <p:nvPr/>
        </p:nvSpPr>
        <p:spPr>
          <a:xfrm>
            <a:off x="1109980" y="4319905"/>
            <a:ext cx="1362710" cy="7607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 b="1">
                <a:solidFill>
                  <a:schemeClr val="tx1"/>
                </a:solidFill>
              </a:rPr>
              <a:t>EMI Receiver</a:t>
            </a:r>
          </a:p>
        </p:txBody>
      </p:sp>
      <p:cxnSp>
        <p:nvCxnSpPr>
          <p:cNvPr id="14" name="Straight Connector 13"/>
          <p:cNvCxnSpPr>
            <a:stCxn id="13" idx="0"/>
          </p:cNvCxnSpPr>
          <p:nvPr/>
        </p:nvCxnSpPr>
        <p:spPr>
          <a:xfrm flipH="1" flipV="1">
            <a:off x="1781175" y="3639820"/>
            <a:ext cx="10160" cy="6800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Rectangles 2"/>
          <p:cNvSpPr/>
          <p:nvPr/>
        </p:nvSpPr>
        <p:spPr>
          <a:xfrm>
            <a:off x="2670810" y="2999740"/>
            <a:ext cx="674370" cy="526415"/>
          </a:xfrm>
          <a:prstGeom prst="rect">
            <a:avLst/>
          </a:prstGeom>
          <a:solidFill>
            <a:schemeClr val="bg1"/>
          </a:solidFill>
          <a:ln w="38100">
            <a:solidFill>
              <a:srgbClr val="19AE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 b="1" dirty="0">
                <a:solidFill>
                  <a:srgbClr val="19AEFF"/>
                </a:solidFill>
              </a:rPr>
              <a:t>PEF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993775" y="2301875"/>
            <a:ext cx="18923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000" b="1">
                <a:solidFill>
                  <a:schemeClr val="tx1"/>
                </a:solidFill>
              </a:rPr>
              <a:t>Copper Plane</a:t>
            </a:r>
          </a:p>
        </p:txBody>
      </p:sp>
      <p:sp>
        <p:nvSpPr>
          <p:cNvPr id="16" name="TextBox 7"/>
          <p:cNvSpPr txBox="1"/>
          <p:nvPr/>
        </p:nvSpPr>
        <p:spPr>
          <a:xfrm>
            <a:off x="961011" y="1311626"/>
            <a:ext cx="5050155" cy="119888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10dB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violation in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150kHz-600kHz</a:t>
            </a: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HF Noise is reduced  </a:t>
            </a:r>
          </a:p>
          <a:p>
            <a:pPr indent="0" algn="l">
              <a:buFont typeface="Arial" panose="020B0604020202020204" pitchFamily="34" charset="0"/>
              <a:buNone/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4668ED-A355-06B0-B4BC-9905C02D6E6B}"/>
              </a:ext>
            </a:extLst>
          </p:cNvPr>
          <p:cNvSpPr txBox="1"/>
          <p:nvPr/>
        </p:nvSpPr>
        <p:spPr>
          <a:xfrm>
            <a:off x="1109980" y="5546397"/>
            <a:ext cx="3706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19AE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*PEF: Passive EMI Filter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0400" y="1991995"/>
            <a:ext cx="5447030" cy="379031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E71C-E28E-4651-98EC-18FC6C4E9AE7}" type="slidenum">
              <a:rPr lang="de-DE" smtClean="0"/>
              <a:t>17</a:t>
            </a:fld>
            <a:endParaRPr lang="de-DE"/>
          </a:p>
        </p:txBody>
      </p:sp>
      <p:sp>
        <p:nvSpPr>
          <p:cNvPr id="15" name="Rectangles 14"/>
          <p:cNvSpPr/>
          <p:nvPr/>
        </p:nvSpPr>
        <p:spPr>
          <a:xfrm>
            <a:off x="993775" y="2371725"/>
            <a:ext cx="3752850" cy="1736725"/>
          </a:xfrm>
          <a:prstGeom prst="rect">
            <a:avLst/>
          </a:prstGeom>
          <a:solidFill>
            <a:schemeClr val="accent4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62890" y="168275"/>
            <a:ext cx="74955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Conductive Emission Measurement</a:t>
            </a: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3686810" y="2879090"/>
            <a:ext cx="961390" cy="7607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 b="1">
                <a:solidFill>
                  <a:schemeClr val="tx1"/>
                </a:solidFill>
              </a:rPr>
              <a:t>DUT</a:t>
            </a:r>
          </a:p>
        </p:txBody>
      </p:sp>
      <p:sp>
        <p:nvSpPr>
          <p:cNvPr id="7" name="Rectangles 6"/>
          <p:cNvSpPr/>
          <p:nvPr/>
        </p:nvSpPr>
        <p:spPr>
          <a:xfrm>
            <a:off x="1310640" y="2879090"/>
            <a:ext cx="961390" cy="7607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 b="1">
                <a:solidFill>
                  <a:schemeClr val="tx1"/>
                </a:solidFill>
              </a:rPr>
              <a:t>LISN</a:t>
            </a:r>
          </a:p>
        </p:txBody>
      </p:sp>
      <p:cxnSp>
        <p:nvCxnSpPr>
          <p:cNvPr id="11" name="Straight Connector 10"/>
          <p:cNvCxnSpPr>
            <a:stCxn id="7" idx="3"/>
            <a:endCxn id="2" idx="1"/>
          </p:cNvCxnSpPr>
          <p:nvPr/>
        </p:nvCxnSpPr>
        <p:spPr>
          <a:xfrm>
            <a:off x="2272030" y="3259455"/>
            <a:ext cx="14147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Rectangles 12"/>
          <p:cNvSpPr/>
          <p:nvPr/>
        </p:nvSpPr>
        <p:spPr>
          <a:xfrm>
            <a:off x="1109980" y="4319905"/>
            <a:ext cx="1362710" cy="7607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 b="1">
                <a:solidFill>
                  <a:schemeClr val="tx1"/>
                </a:solidFill>
              </a:rPr>
              <a:t>EMI Receiver</a:t>
            </a:r>
          </a:p>
        </p:txBody>
      </p:sp>
      <p:cxnSp>
        <p:nvCxnSpPr>
          <p:cNvPr id="14" name="Straight Connector 13"/>
          <p:cNvCxnSpPr>
            <a:stCxn id="13" idx="0"/>
          </p:cNvCxnSpPr>
          <p:nvPr/>
        </p:nvCxnSpPr>
        <p:spPr>
          <a:xfrm flipH="1" flipV="1">
            <a:off x="1781175" y="3639820"/>
            <a:ext cx="10160" cy="6800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Rectangles 2"/>
          <p:cNvSpPr/>
          <p:nvPr/>
        </p:nvSpPr>
        <p:spPr>
          <a:xfrm>
            <a:off x="2670810" y="2999740"/>
            <a:ext cx="674370" cy="52641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 b="1">
                <a:solidFill>
                  <a:srgbClr val="FF0000"/>
                </a:solidFill>
              </a:rPr>
              <a:t>HEF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993775" y="2301875"/>
            <a:ext cx="18923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000" b="1">
                <a:solidFill>
                  <a:schemeClr val="tx1"/>
                </a:solidFill>
              </a:rPr>
              <a:t>Copper Plane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7385" y="4556760"/>
            <a:ext cx="1606550" cy="622935"/>
          </a:xfrm>
          <a:prstGeom prst="rect">
            <a:avLst/>
          </a:prstGeom>
        </p:spPr>
      </p:pic>
      <p:sp>
        <p:nvSpPr>
          <p:cNvPr id="12" name="TextBox 7"/>
          <p:cNvSpPr txBox="1"/>
          <p:nvPr/>
        </p:nvSpPr>
        <p:spPr>
          <a:xfrm>
            <a:off x="961011" y="1221456"/>
            <a:ext cx="3325495" cy="9772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Effective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9kHz-1MHz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altLang="en-US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27dB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@150kHz</a:t>
            </a: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D23CEF-3179-A560-3BCA-92028115AE6C}"/>
              </a:ext>
            </a:extLst>
          </p:cNvPr>
          <p:cNvSpPr txBox="1"/>
          <p:nvPr/>
        </p:nvSpPr>
        <p:spPr>
          <a:xfrm>
            <a:off x="1109980" y="5546397"/>
            <a:ext cx="3550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DD2A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*HEF: Hybrid EMI Filter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E71C-E28E-4651-98EC-18FC6C4E9AE7}" type="slidenum">
              <a:rPr lang="de-DE" smtClean="0"/>
              <a:t>18</a:t>
            </a:fld>
            <a:endParaRPr lang="de-DE" dirty="0"/>
          </a:p>
        </p:txBody>
      </p:sp>
      <p:sp>
        <p:nvSpPr>
          <p:cNvPr id="3" name="Text Box 2"/>
          <p:cNvSpPr txBox="1"/>
          <p:nvPr/>
        </p:nvSpPr>
        <p:spPr>
          <a:xfrm>
            <a:off x="262890" y="168275"/>
            <a:ext cx="62249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Conclusion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137920" y="1204595"/>
            <a:ext cx="9283065" cy="2602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Hybrid EMI Filter New Design Option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400" dirty="0">
                <a:latin typeface="Arial" panose="020B0604020202020204" pitchFamily="34" charset="0"/>
                <a:cs typeface="Arial" panose="020B0604020202020204" pitchFamily="34" charset="0"/>
              </a:rPr>
              <a:t>Volume/Weight Reduction 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Higher Attenuation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Higher Power Density </a:t>
            </a:r>
            <a:endParaRPr lang="en-US" alt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6364605" y="3577590"/>
            <a:ext cx="17087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000" b="1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Filter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C32F7BA-214F-FA2B-C968-D6F4EF0EF0E8}"/>
              </a:ext>
            </a:extLst>
          </p:cNvPr>
          <p:cNvGrpSpPr/>
          <p:nvPr/>
        </p:nvGrpSpPr>
        <p:grpSpPr>
          <a:xfrm>
            <a:off x="6076950" y="4208780"/>
            <a:ext cx="2338705" cy="825500"/>
            <a:chOff x="6076950" y="4208780"/>
            <a:chExt cx="2338705" cy="825500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2"/>
            <a:srcRect r="25731" b="62785"/>
            <a:stretch>
              <a:fillRect/>
            </a:stretch>
          </p:blipFill>
          <p:spPr>
            <a:xfrm>
              <a:off x="6076950" y="4441190"/>
              <a:ext cx="1259840" cy="593090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77455" y="4208780"/>
              <a:ext cx="838200" cy="825500"/>
            </a:xfrm>
            <a:prstGeom prst="rect">
              <a:avLst/>
            </a:prstGeom>
          </p:spPr>
        </p:pic>
      </p:grpSp>
      <p:sp>
        <p:nvSpPr>
          <p:cNvPr id="4" name="Text Box 3"/>
          <p:cNvSpPr txBox="1"/>
          <p:nvPr/>
        </p:nvSpPr>
        <p:spPr>
          <a:xfrm>
            <a:off x="2091055" y="3478530"/>
            <a:ext cx="20612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000" b="1" i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Passive Filter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105" y="3777615"/>
            <a:ext cx="3324225" cy="150495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80322" y="6583680"/>
            <a:ext cx="84156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1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https://vacuumschmelze.com/products/inductive-components-and-cores/amorphous-and-nanocrystalline-cores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1D32D-3608-60FB-9F43-479F0DF89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78DD6-EB4A-4AC7-DE04-DF6D9928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E71C-E28E-4651-98EC-18FC6C4E9AE7}" type="slidenum">
              <a:rPr lang="de-DE" smtClean="0"/>
              <a:t>19</a:t>
            </a:fld>
            <a:endParaRPr lang="de-DE" dirty="0"/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2C676C79-94FE-E373-575E-C15263C9902E}"/>
              </a:ext>
            </a:extLst>
          </p:cNvPr>
          <p:cNvSpPr txBox="1"/>
          <p:nvPr/>
        </p:nvSpPr>
        <p:spPr>
          <a:xfrm>
            <a:off x="4684643" y="2319130"/>
            <a:ext cx="2573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303210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36A10-3EB9-31A7-444B-044F8509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A266B-EEDA-86EA-300F-4BA506301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E71C-E28E-4651-98EC-18FC6C4E9AE7}" type="slidenum">
              <a:rPr lang="de-DE" smtClean="0"/>
              <a:t>20</a:t>
            </a:fld>
            <a:endParaRPr lang="de-DE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7FC2861-487A-0DEB-3813-77065E05F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4871" y="905933"/>
            <a:ext cx="10857805" cy="5359400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0B5E7010-B7CE-321B-EABA-D562307C8A29}"/>
              </a:ext>
            </a:extLst>
          </p:cNvPr>
          <p:cNvSpPr txBox="1"/>
          <p:nvPr/>
        </p:nvSpPr>
        <p:spPr>
          <a:xfrm>
            <a:off x="262890" y="168275"/>
            <a:ext cx="62249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Active EMI Filter Design</a:t>
            </a:r>
            <a:endParaRPr lang="en-US" altLang="en-US" sz="3200" b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569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E71C-E28E-4651-98EC-18FC6C4E9AE7}" type="slidenum">
              <a:rPr lang="de-DE" smtClean="0"/>
              <a:t>21</a:t>
            </a:fld>
            <a:endParaRPr lang="de-DE" dirty="0"/>
          </a:p>
        </p:txBody>
      </p:sp>
      <p:sp>
        <p:nvSpPr>
          <p:cNvPr id="3" name="Text Box 2"/>
          <p:cNvSpPr txBox="1"/>
          <p:nvPr/>
        </p:nvSpPr>
        <p:spPr>
          <a:xfrm>
            <a:off x="262890" y="168275"/>
            <a:ext cx="62249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Conclusion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204595" y="1057275"/>
            <a:ext cx="9283065" cy="378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</a:t>
            </a:r>
            <a:r>
              <a:rPr lang="en-GB" altLang="en-US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/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Φ</a:t>
            </a:r>
            <a:r>
              <a:rPr lang="en-GB" altLang="en-US" sz="2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Comptible 11kW Hybrid EMI Filter 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Inductance reduced by </a:t>
            </a:r>
            <a:r>
              <a:rPr lang="en-US" altLang="en-GB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90%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altLang="en-US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27dB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GB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attenuation improvement @</a:t>
            </a:r>
            <a:r>
              <a:rPr lang="en-US" altLang="en-GB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150kHz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Effective from </a:t>
            </a:r>
            <a:r>
              <a:rPr lang="en-GB" altLang="en-US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9kHz-1MHz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Low-Profile</a:t>
            </a:r>
            <a:r>
              <a:rPr lang="en-US" altLang="en-GB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Filter Design (26mm)</a:t>
            </a: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6475730" y="3776345"/>
            <a:ext cx="17087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000" b="1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Filter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rcRect r="25731" b="62785"/>
          <a:stretch>
            <a:fillRect/>
          </a:stretch>
        </p:blipFill>
        <p:spPr>
          <a:xfrm>
            <a:off x="6081395" y="4407535"/>
            <a:ext cx="1259840" cy="59309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0" y="4175125"/>
            <a:ext cx="838200" cy="8255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202180" y="3677285"/>
            <a:ext cx="20612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000" b="1" i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Passive Filter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230" y="3976370"/>
            <a:ext cx="3324225" cy="1504950"/>
          </a:xfrm>
          <a:prstGeom prst="rect">
            <a:avLst/>
          </a:prstGeom>
        </p:spPr>
      </p:pic>
      <p:pic>
        <p:nvPicPr>
          <p:cNvPr id="10" name="Graphic 9" descr="Scales of justice with solid fill">
            <a:extLst>
              <a:ext uri="{FF2B5EF4-FFF2-40B4-BE49-F238E27FC236}">
                <a16:creationId xmlns:a16="http://schemas.microsoft.com/office/drawing/2014/main" id="{C2FBF345-661F-7245-2EC2-108E320836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6320" y="3707130"/>
            <a:ext cx="269748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5440" y="1464310"/>
            <a:ext cx="5566410" cy="38881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9E71C-E28E-4651-98EC-18FC6C4E9AE7}" type="slidenum">
              <a:rPr lang="de-DE" smtClean="0"/>
              <a:t>22</a:t>
            </a:fld>
            <a:endParaRPr lang="de-DE"/>
          </a:p>
        </p:txBody>
      </p:sp>
      <p:sp>
        <p:nvSpPr>
          <p:cNvPr id="6" name="Text Box 5"/>
          <p:cNvSpPr txBox="1"/>
          <p:nvPr/>
        </p:nvSpPr>
        <p:spPr>
          <a:xfrm>
            <a:off x="262890" y="168275"/>
            <a:ext cx="61271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Insertion Loss Measurement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286510" y="1892300"/>
            <a:ext cx="3111500" cy="102298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Network Anlyzer</a:t>
            </a:r>
          </a:p>
        </p:txBody>
      </p:sp>
      <p:sp>
        <p:nvSpPr>
          <p:cNvPr id="7" name="Rectangles 6"/>
          <p:cNvSpPr/>
          <p:nvPr/>
        </p:nvSpPr>
        <p:spPr>
          <a:xfrm>
            <a:off x="1286510" y="3429000"/>
            <a:ext cx="3111500" cy="748665"/>
          </a:xfrm>
          <a:prstGeom prst="rect">
            <a:avLst/>
          </a:prstGeom>
          <a:solidFill>
            <a:schemeClr val="bg1"/>
          </a:solidFill>
          <a:ln w="28575">
            <a:solidFill>
              <a:srgbClr val="DD2A2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Filter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1615440" y="2898140"/>
            <a:ext cx="2540" cy="5308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4013200" y="2898140"/>
            <a:ext cx="2540" cy="5308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5740" y="4543425"/>
            <a:ext cx="2476500" cy="17526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.55,&quot;left&quot;:114.4,&quot;top&quot;:254.3,&quot;width&quot;:703.3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.55,&quot;left&quot;:114.4,&quot;top&quot;:254.3,&quot;width&quot;:703.3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.55,&quot;left&quot;:114.4,&quot;top&quot;:254.3,&quot;width&quot;:703.3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.55,&quot;left&quot;:114.4,&quot;top&quot;:254.3,&quot;width&quot;:703.3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</Words>
  <Application>Microsoft Office PowerPoint</Application>
  <PresentationFormat>Widescreen</PresentationFormat>
  <Paragraphs>155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Aharoni</vt:lpstr>
      <vt:lpstr>Arial</vt:lpstr>
      <vt:lpstr>Calibri</vt:lpstr>
      <vt:lpstr>Times</vt:lpstr>
      <vt:lpstr>Office Theme</vt:lpstr>
      <vt:lpstr>Hybrid EMI Filter for 11kW Onboard Charger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Zhao Weihao</dc:creator>
  <cp:lastModifiedBy>Zhao Weihao</cp:lastModifiedBy>
  <cp:revision>155</cp:revision>
  <dcterms:created xsi:type="dcterms:W3CDTF">2025-07-23T00:59:00Z</dcterms:created>
  <dcterms:modified xsi:type="dcterms:W3CDTF">2026-09-11T16:18:20Z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D7CCEA268FE3442093320A66AB57FA4C_13</vt:lpwstr>
  </property>
  <property fmtid="{D5CDD505-2E9C-101B-9397-08002B2CF9AE}" pid="3" name="KSOProductBuildVer">
    <vt:lpwstr>1033-12.2.0.23196</vt:lpwstr>
  </property>
</Properties>
</file>